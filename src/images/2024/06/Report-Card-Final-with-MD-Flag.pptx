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4"/>
  </p:notesMasterIdLst>
  <p:sldIdLst>
    <p:sldId id="268" r:id="rId2"/>
    <p:sldId id="271" r:id="rId3"/>
  </p:sldIdLst>
  <p:sldSz cx="12192000" cy="6858000"/>
  <p:notesSz cx="7102475" cy="12131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CBBD2F-5EFF-407E-A44D-E0340FCE7DA8}" v="102" dt="2024-04-11T13:18:27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3078163" cy="6071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30" y="0"/>
            <a:ext cx="3078163" cy="6071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A2E38-9126-40DB-9A42-90F270A747B0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7313" y="1516063"/>
            <a:ext cx="7277101" cy="4094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5838138"/>
            <a:ext cx="5683250" cy="477759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" y="11524476"/>
            <a:ext cx="3078163" cy="6071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30" y="11524476"/>
            <a:ext cx="3078163" cy="6071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2D026-A8F8-4DE8-8B77-A55E52287C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8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83FB-B043-F53E-1205-CD0CE88D3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BE8AA-84C7-ADD6-FB75-94BA10DE4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EE974-FAC8-13DD-14D6-BA51885B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66A70-E2FB-6402-F331-7D75845A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25AFC-3F83-01A0-4F97-E12CFD33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08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BDF0-010C-DD9F-8D46-1D96FAA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617F-CE6C-3298-16D0-6EE5FDDA0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7E2C8-C68D-4727-5899-BDF8C7A7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E4684-882D-399E-8F5E-270C6E3D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68D77-3640-E4FA-647C-520AB73D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9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FC3D-EC07-95F1-ADF7-40D3C2FF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45F04-FA59-94FA-08DD-C88127684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512CB-B8D4-0AD4-30A3-AD436DB2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F5614-0D7B-B6BC-4C17-8B5C77EDB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36256-BCF9-ABE9-C277-FD6555D4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1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C388-8058-4732-58FB-5DB97C45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013E8-8C5E-C1A9-B5CF-B8A805702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C431A-0292-4A31-67B1-FB76228C8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B77F3-CD2F-D8D1-BF5A-B30741CC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96B5-DDC9-F79A-3833-976B7199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B0AA1-7828-1559-F5B1-4B7361E4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44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182B-8493-97B9-92C4-24B09EC1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0D77A-239C-ADB1-3A0E-11A909990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FAD9F-7A84-CFAF-7B28-1AFA9E7C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1CD1E-792A-E718-056F-1C451E3EF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7E216-43C4-330F-94FE-7C5928EB2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8DD177-C4C3-44AB-C96D-63535B10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6EF97F-AFC1-2FF8-2028-BD560440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D3996-AE08-6636-3AEC-1DC7F0E4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26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B9D4-2698-19EB-02FD-A134D0E6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3187B-E264-B61A-B340-A584850E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7BF89-5866-B534-2E75-D35D27AF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D3879-D254-A4B8-08E2-E3AA1447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71D3E-A492-027B-4052-44AF4A3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6DABA-E4E6-66C1-AFFF-584BBDAD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683C5-8918-A034-3803-385F3334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3F91-F436-0B5F-773B-265EFBA12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56E69-6696-61E7-A7AC-A1C7A4D98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62D1D-755A-1C1F-9AAF-DAF0A2544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2FE29-A90B-0191-AAB5-6CFFB1D5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90221-918F-A6BB-5C46-A4938F2A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500C5-05F8-D54E-2D6B-CFB62E63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1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A020-0F76-A726-BD1C-FB5628F8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C101D-AE54-DA0E-DA6D-0E71AE59F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38544-DF98-BC32-87FC-A84DE1A5C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62674-2B85-AAAC-747B-B48E602C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68962-557C-B5E8-CC1B-2C30E033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BA596-9278-5609-2F59-5DB1C730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6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C994-1DBB-941D-E10B-44B49BD5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4D9D4-18F0-9DF5-4321-82DCD3545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2CE9-5911-644C-F0CB-3A99FDF29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9AB1E-E14B-50AF-4EC5-E17404DA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4A97E-7FD5-F8D2-A941-0C9697FF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93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B3E89-A81E-5F22-689A-9FEB612FF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4857B-A9F8-2B65-78B5-EF750CBB6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845A0-B4C7-6863-9EEE-A9E818F3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873ED-3900-1D5C-BC21-4E2118DA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727F-67EF-B18F-4396-E0E8EF00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8CB6D-2E3B-DF9B-2F98-75AABAF67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DDB6-9EB5-B837-D9A6-F05490529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141BF-811A-DF00-076D-4DB4757CC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B3A86-9186-4797-94CB-6DD3D175EE6A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0D48F-031E-3175-1366-47FC0BD0C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4562F-BCAE-D167-F8BF-890B37C10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BAA60-A68F-4489-AA44-A88090C619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367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emf"/><Relationship Id="rId12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409F284-602A-9AC5-0BF9-475E2C80EF03}"/>
              </a:ext>
            </a:extLst>
          </p:cNvPr>
          <p:cNvSpPr txBox="1"/>
          <p:nvPr/>
        </p:nvSpPr>
        <p:spPr>
          <a:xfrm>
            <a:off x="73207" y="32412"/>
            <a:ext cx="593867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Additional Inaccuracies, Discrepancies and Concerns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13357-2C33-4771-C78E-F703B2C51057}"/>
              </a:ext>
            </a:extLst>
          </p:cNvPr>
          <p:cNvSpPr txBox="1"/>
          <p:nvPr/>
        </p:nvSpPr>
        <p:spPr>
          <a:xfrm>
            <a:off x="27209" y="2103532"/>
            <a:ext cx="4002834" cy="2785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b="1" i="1" dirty="0"/>
              <a:t>         </a:t>
            </a:r>
            <a:r>
              <a:rPr lang="en-US" sz="900" b="1" i="1" u="sng" dirty="0"/>
              <a:t>Marylanders deserve accurate elections</a:t>
            </a:r>
            <a:r>
              <a:rPr lang="en-US" sz="900" dirty="0"/>
              <a:t>   	This report card 				provides citizens   				with scientifically 				developed data 				illustrating 				Maryland Voter 				Registration 				Database and 				other voting 	  		                           irregularities.</a:t>
            </a:r>
          </a:p>
          <a:p>
            <a:endParaRPr lang="en-US" sz="200" dirty="0"/>
          </a:p>
          <a:p>
            <a:pPr algn="just"/>
            <a:r>
              <a:rPr lang="en-US" sz="900" dirty="0"/>
              <a:t>It objectively shows that the Maryland Board of Elections has failed to properly manage the electoral process and related voting systems.</a:t>
            </a:r>
          </a:p>
          <a:p>
            <a:pPr algn="just"/>
            <a:endParaRPr lang="en-US" sz="300" dirty="0"/>
          </a:p>
          <a:p>
            <a:pPr algn="just"/>
            <a:r>
              <a:rPr lang="en-US" sz="900" dirty="0"/>
              <a:t>This “failing” report card is a clarion call for Maryland citizens to take immediate action by going to </a:t>
            </a:r>
            <a:r>
              <a:rPr lang="en-US" sz="900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SecuretheVoteMD.com</a:t>
            </a:r>
            <a:r>
              <a:rPr lang="en-US" sz="900" dirty="0"/>
              <a:t> and signing our petition, which will be presented to state legislators, to fix our elections process.</a:t>
            </a:r>
          </a:p>
          <a:p>
            <a:pPr algn="just"/>
            <a:endParaRPr lang="en-US" sz="300" dirty="0"/>
          </a:p>
          <a:p>
            <a:pPr algn="just"/>
            <a:r>
              <a:rPr lang="en-US" sz="900" dirty="0"/>
              <a:t>Confidence in our elections can only be achieved when the voting process accurately reflects the will of the people.</a:t>
            </a:r>
            <a:endParaRPr lang="en-US" sz="300" dirty="0"/>
          </a:p>
          <a:p>
            <a:pPr algn="r"/>
            <a:r>
              <a:rPr lang="en-US" sz="900" b="1" i="1" dirty="0">
                <a:solidFill>
                  <a:prstClr val="black"/>
                </a:solidFill>
                <a:latin typeface="Ink Free" panose="03080402000500000000" pitchFamily="66" charset="0"/>
                <a:cs typeface="Arial" panose="020B0604020202020204" pitchFamily="34" charset="0"/>
              </a:rPr>
              <a:t>                </a:t>
            </a:r>
            <a:r>
              <a:rPr lang="en-US" sz="1050" b="1" i="1" dirty="0">
                <a:solidFill>
                  <a:prstClr val="black"/>
                </a:solidFill>
                <a:latin typeface="Ink Free" panose="03080402000500000000" pitchFamily="66" charset="0"/>
                <a:cs typeface="Arial" panose="020B0604020202020204" pitchFamily="34" charset="0"/>
              </a:rPr>
              <a:t>Maryland Election Integrity LLC</a:t>
            </a:r>
            <a:endParaRPr lang="en-US" sz="900" b="1" i="1" dirty="0">
              <a:solidFill>
                <a:prstClr val="black"/>
              </a:solidFill>
              <a:latin typeface="Ink Free" panose="03080402000500000000" pitchFamily="66" charset="0"/>
              <a:cs typeface="Arial" panose="020B0604020202020204" pitchFamily="34" charset="0"/>
            </a:endParaRPr>
          </a:p>
          <a:p>
            <a:pPr algn="just"/>
            <a:endParaRPr lang="en-US" sz="100" b="1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5C03D0-6A1B-8DB8-7C01-AFFDF5C1F09E}"/>
              </a:ext>
            </a:extLst>
          </p:cNvPr>
          <p:cNvGrpSpPr/>
          <p:nvPr/>
        </p:nvGrpSpPr>
        <p:grpSpPr>
          <a:xfrm>
            <a:off x="65580" y="388798"/>
            <a:ext cx="5959886" cy="1707436"/>
            <a:chOff x="65580" y="388798"/>
            <a:chExt cx="5937882" cy="170743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2AD04A2-D2D1-4A7B-CDD4-2AB58F8C2E2C}"/>
                </a:ext>
              </a:extLst>
            </p:cNvPr>
            <p:cNvGrpSpPr/>
            <p:nvPr/>
          </p:nvGrpSpPr>
          <p:grpSpPr>
            <a:xfrm>
              <a:off x="65580" y="388798"/>
              <a:ext cx="5937882" cy="1707436"/>
              <a:chOff x="65580" y="388798"/>
              <a:chExt cx="5937882" cy="170743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C67BB02-88EE-139A-9064-7ED6B3736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580" y="388798"/>
                <a:ext cx="2975953" cy="1707436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D7C5F2A-9FD9-15F0-E5D0-A40FA47AE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1848" y="391288"/>
                <a:ext cx="2971614" cy="170494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B0BC29B-B97F-171E-FBF3-73AA11566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245" y="489483"/>
              <a:ext cx="1012014" cy="96548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C1F2B6B-1D2F-D8A8-84B3-120BC20E4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0889" y="489483"/>
              <a:ext cx="1011517" cy="964127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5C09919-A453-E05C-3B42-E215EFF9C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0043" y="2096235"/>
            <a:ext cx="1981840" cy="27333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E23A0E-7B15-A422-B4FC-450537C23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360" y="2504458"/>
            <a:ext cx="1061994" cy="8906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B83F559-6496-9281-F16C-19D7692CB6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9" y="4840558"/>
            <a:ext cx="2216681" cy="1948085"/>
          </a:xfrm>
          <a:prstGeom prst="rect">
            <a:avLst/>
          </a:prstGeom>
          <a:gradFill>
            <a:gsLst>
              <a:gs pos="7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19EC5C6-FBB9-AC7F-CC07-2754A9F12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203" y="5031098"/>
            <a:ext cx="1014539" cy="85081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1A06578-A5C1-2A41-42D6-BEB023E0C6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6700" y="4840560"/>
            <a:ext cx="3715184" cy="19480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3" name="Picture 2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550943DC-7606-D126-14F0-5CB73C5086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2" y="2469801"/>
            <a:ext cx="2778557" cy="846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17735-CA01-F253-67AF-4FFADD585F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7052" y="-965"/>
            <a:ext cx="5811558" cy="7407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149C92-7C0D-3C65-24EE-FA32F4495528}"/>
              </a:ext>
            </a:extLst>
          </p:cNvPr>
          <p:cNvSpPr txBox="1"/>
          <p:nvPr/>
        </p:nvSpPr>
        <p:spPr>
          <a:xfrm>
            <a:off x="9105895" y="2806570"/>
            <a:ext cx="1493062" cy="1107996"/>
          </a:xfrm>
          <a:prstGeom prst="rect">
            <a:avLst/>
          </a:prstGeom>
          <a:gradFill>
            <a:gsLst>
              <a:gs pos="52000">
                <a:schemeClr val="tx1">
                  <a:lumMod val="75000"/>
                  <a:lumOff val="25000"/>
                </a:schemeClr>
              </a:gs>
              <a:gs pos="15000">
                <a:srgbClr val="FFFF00"/>
              </a:gs>
            </a:gsLst>
            <a:lin ang="2700000" scaled="1"/>
          </a:gradFill>
          <a:ln w="38100">
            <a:solidFill>
              <a:srgbClr val="C0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softEdge rad="1092200"/>
          </a:effectLst>
          <a:scene3d>
            <a:camera prst="perspectiveFront" fov="2700000">
              <a:rot lat="20376000" lon="1938000" rev="20112001"/>
            </a:camera>
            <a:lightRig rig="sunset" dir="t"/>
          </a:scene3d>
          <a:sp3d extrusionH="127000" contourW="63500" prstMaterial="powder">
            <a:bevelT w="203200" h="50800" prst="softRound"/>
            <a:extrusionClr>
              <a:srgbClr val="FF0000"/>
            </a:extrusionClr>
            <a:contourClr>
              <a:srgbClr val="C00000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Election Season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2020 / 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7782F-87F7-3FD1-A183-52A66E7ACB53}"/>
              </a:ext>
            </a:extLst>
          </p:cNvPr>
          <p:cNvSpPr txBox="1"/>
          <p:nvPr/>
        </p:nvSpPr>
        <p:spPr>
          <a:xfrm>
            <a:off x="6377053" y="6848811"/>
            <a:ext cx="5811558" cy="5486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B4DF04-2682-1414-F2F6-766010A7A9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03" y="-2098"/>
            <a:ext cx="711701" cy="3697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8E4BFC-0F22-61D5-5469-E9EAF5F968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2172" y="1825"/>
            <a:ext cx="713294" cy="3657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31EE3F-A936-7068-28D1-97BA977FD6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96" y="6396973"/>
            <a:ext cx="713294" cy="365792"/>
          </a:xfrm>
          <a:prstGeom prst="rect">
            <a:avLst/>
          </a:prstGeom>
        </p:spPr>
      </p:pic>
      <p:pic>
        <p:nvPicPr>
          <p:cNvPr id="1030" name="Picture 6" descr="Vector Country Flag of Maryland - Circle | Vector Countries Flags of ...">
            <a:extLst>
              <a:ext uri="{FF2B5EF4-FFF2-40B4-BE49-F238E27FC236}">
                <a16:creationId xmlns:a16="http://schemas.microsoft.com/office/drawing/2014/main" id="{5C9CFD32-0976-EA68-70C4-9F1A0D193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0915" y="1756968"/>
            <a:ext cx="1205736" cy="120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8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926670-A1F6-6073-A70E-34D207E81E61}"/>
              </a:ext>
            </a:extLst>
          </p:cNvPr>
          <p:cNvGrpSpPr/>
          <p:nvPr/>
        </p:nvGrpSpPr>
        <p:grpSpPr>
          <a:xfrm>
            <a:off x="41932" y="50496"/>
            <a:ext cx="12095033" cy="6757007"/>
            <a:chOff x="41932" y="50496"/>
            <a:chExt cx="12095033" cy="6757007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2A2D1B-9D66-C347-F170-7F0C9DAB4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2069" y="3087148"/>
              <a:ext cx="4852355" cy="323114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FECF831-0949-3467-692C-583CA2F52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479" y="3417262"/>
              <a:ext cx="5854081" cy="339024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549614-8830-1B67-05DF-B6369D20AA39}"/>
                </a:ext>
              </a:extLst>
            </p:cNvPr>
            <p:cNvSpPr txBox="1"/>
            <p:nvPr/>
          </p:nvSpPr>
          <p:spPr>
            <a:xfrm>
              <a:off x="82230" y="97611"/>
              <a:ext cx="1903777" cy="461665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Report Card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B62B4D-52EF-F6E4-B531-368AB0DB3452}"/>
                </a:ext>
              </a:extLst>
            </p:cNvPr>
            <p:cNvSpPr txBox="1"/>
            <p:nvPr/>
          </p:nvSpPr>
          <p:spPr>
            <a:xfrm>
              <a:off x="2777706" y="50496"/>
              <a:ext cx="3210895" cy="5770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Name of Student: </a:t>
              </a:r>
              <a:r>
                <a:rPr lang="en-US" sz="1050" b="1" i="1" dirty="0">
                  <a:latin typeface="Ink Free" panose="03080402000500000000" pitchFamily="66" charset="0"/>
                  <a:cs typeface="Arial" panose="020B0604020202020204" pitchFamily="34" charset="0"/>
                </a:rPr>
                <a:t>Board of Elections</a:t>
              </a:r>
            </a:p>
            <a:p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Grading Period: </a:t>
              </a:r>
              <a:r>
                <a:rPr lang="en-US" sz="1050" b="1" i="1" dirty="0">
                  <a:latin typeface="Ink Free" panose="03080402000500000000" pitchFamily="66" charset="0"/>
                  <a:cs typeface="Arial" panose="020B0604020202020204" pitchFamily="34" charset="0"/>
                </a:rPr>
                <a:t>2020 / 2022 Election Cycle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Passing Grade: </a:t>
              </a:r>
              <a:r>
                <a:rPr kumimoji="0" lang="en-US" sz="105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nk Free" panose="03080402000500000000" pitchFamily="66" charset="0"/>
                  <a:cs typeface="Arial" panose="020B0604020202020204" pitchFamily="34" charset="0"/>
                </a:rPr>
                <a:t>Less than Federal Law Allowance</a:t>
              </a:r>
              <a:endPara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k Free" panose="03080402000500000000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78F9EA-D6BE-3031-26E3-9583A9BBA2AC}"/>
                </a:ext>
              </a:extLst>
            </p:cNvPr>
            <p:cNvSpPr/>
            <p:nvPr/>
          </p:nvSpPr>
          <p:spPr>
            <a:xfrm>
              <a:off x="41932" y="97610"/>
              <a:ext cx="138548" cy="666763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CBA1BE-1E6F-A99A-C20C-6DD773CEC7FB}"/>
                </a:ext>
              </a:extLst>
            </p:cNvPr>
            <p:cNvSpPr txBox="1"/>
            <p:nvPr/>
          </p:nvSpPr>
          <p:spPr>
            <a:xfrm>
              <a:off x="167135" y="3054729"/>
              <a:ext cx="2184061" cy="40011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Voting Violations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92C93D-E5F4-E124-A217-C8F7189E7DA1}"/>
                </a:ext>
              </a:extLst>
            </p:cNvPr>
            <p:cNvSpPr txBox="1"/>
            <p:nvPr/>
          </p:nvSpPr>
          <p:spPr>
            <a:xfrm>
              <a:off x="10132291" y="91500"/>
              <a:ext cx="1903777" cy="461665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Report Card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ABCED9B-E4A0-E954-59D6-ADF0B3E8AF53}"/>
                </a:ext>
              </a:extLst>
            </p:cNvPr>
            <p:cNvSpPr txBox="1"/>
            <p:nvPr/>
          </p:nvSpPr>
          <p:spPr>
            <a:xfrm>
              <a:off x="9635637" y="3073176"/>
              <a:ext cx="2401260" cy="707886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Registration  Violations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9606AE-4576-40A9-F878-D5077A831C71}"/>
                </a:ext>
              </a:extLst>
            </p:cNvPr>
            <p:cNvSpPr txBox="1"/>
            <p:nvPr/>
          </p:nvSpPr>
          <p:spPr>
            <a:xfrm>
              <a:off x="6204959" y="120067"/>
              <a:ext cx="3499758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Class Advisor: </a:t>
              </a:r>
              <a:r>
                <a:rPr lang="en-US" sz="1050" b="1" i="1" dirty="0">
                  <a:latin typeface="Ink Free" panose="03080402000500000000" pitchFamily="66" charset="0"/>
                  <a:cs typeface="Arial" panose="020B0604020202020204" pitchFamily="34" charset="0"/>
                </a:rPr>
                <a:t>Maryland Election Integrity LLC</a:t>
              </a:r>
              <a:endParaRPr lang="en-US" sz="1050" i="1" dirty="0">
                <a:solidFill>
                  <a:srgbClr val="000000"/>
                </a:solidFill>
                <a:effectLst/>
                <a:latin typeface="Ink Free" panose="03080402000500000000" pitchFamily="66" charset="0"/>
                <a:cs typeface="Arial" panose="020B0604020202020204" pitchFamily="34" charset="0"/>
              </a:endParaRPr>
            </a:p>
            <a:p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Passing Grade: </a:t>
              </a:r>
              <a:r>
                <a:rPr lang="en-US" sz="1050" b="1" i="1" dirty="0">
                  <a:latin typeface="Ink Free" panose="03080402000500000000" pitchFamily="66" charset="0"/>
                  <a:cs typeface="Arial" panose="020B0604020202020204" pitchFamily="34" charset="0"/>
                </a:rPr>
                <a:t>Violations = Zero  or Less</a:t>
              </a:r>
              <a:endParaRPr lang="en-US" sz="1050" b="1" i="1" dirty="0">
                <a:solidFill>
                  <a:srgbClr val="FF0000"/>
                </a:solidFill>
                <a:latin typeface="Ink Free" panose="03080402000500000000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431A853-AADA-82A3-7E98-193A678273C3}"/>
                </a:ext>
              </a:extLst>
            </p:cNvPr>
            <p:cNvSpPr/>
            <p:nvPr/>
          </p:nvSpPr>
          <p:spPr>
            <a:xfrm>
              <a:off x="44074" y="94576"/>
              <a:ext cx="5981471" cy="6662043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E329D1-72A0-2D9E-36A9-DDFD20CC32DF}"/>
                </a:ext>
              </a:extLst>
            </p:cNvPr>
            <p:cNvSpPr/>
            <p:nvPr/>
          </p:nvSpPr>
          <p:spPr>
            <a:xfrm>
              <a:off x="6201453" y="91150"/>
              <a:ext cx="5935512" cy="6665469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D95669C-636A-F15C-03F3-B160621FF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051675">
              <a:off x="6133652" y="2928838"/>
              <a:ext cx="1358370" cy="108927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0D93026-3301-ED8B-B976-FDB2E6CCB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68136" y="3821537"/>
              <a:ext cx="2309631" cy="220718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B0268A-F760-6EA4-9CFF-2F7EA04EA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2451" y="576908"/>
              <a:ext cx="5805946" cy="247693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7A335C1-A4D8-5500-5840-D2FAD5091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29771" y="574204"/>
              <a:ext cx="5778531" cy="2488264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D6A6639-26CE-BC82-8B13-31C9EF5F86EF}"/>
              </a:ext>
            </a:extLst>
          </p:cNvPr>
          <p:cNvSpPr/>
          <p:nvPr/>
        </p:nvSpPr>
        <p:spPr>
          <a:xfrm>
            <a:off x="12026638" y="97610"/>
            <a:ext cx="138548" cy="66676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D30AEA-DCE9-8FEE-E2CE-868D00D36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5116" y="6107502"/>
            <a:ext cx="2054559" cy="6235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88E0ED-74B2-B369-64B7-FCD954EF84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7633" y="3089925"/>
            <a:ext cx="2918278" cy="8857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50" name="Picture 2" descr="Free photograph; state, flag, Maryland">
            <a:extLst>
              <a:ext uri="{FF2B5EF4-FFF2-40B4-BE49-F238E27FC236}">
                <a16:creationId xmlns:a16="http://schemas.microsoft.com/office/drawing/2014/main" id="{E20EF5BF-9086-A223-FBD5-A7C6B0650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235" y="138917"/>
            <a:ext cx="757257" cy="39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CEC63D-51E6-D7A9-216F-169C8182BD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860" y="6221238"/>
            <a:ext cx="939706" cy="4895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F809EC-7425-89A3-C8E6-AD8085E2F1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0843" y="139278"/>
            <a:ext cx="755970" cy="3962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0DA278-B2AD-3FD1-950B-DBB7808C40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1550" y="6227191"/>
            <a:ext cx="938865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3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5173</TotalTime>
  <Words>208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Ink Free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Scorecard for Report Card</dc:title>
  <dc:creator>Jay Baratelli</dc:creator>
  <cp:lastModifiedBy>Jay Baratelli</cp:lastModifiedBy>
  <cp:revision>18</cp:revision>
  <cp:lastPrinted>2024-04-10T08:03:28Z</cp:lastPrinted>
  <dcterms:created xsi:type="dcterms:W3CDTF">2024-02-20T13:48:59Z</dcterms:created>
  <dcterms:modified xsi:type="dcterms:W3CDTF">2024-04-12T18:12:13Z</dcterms:modified>
</cp:coreProperties>
</file>